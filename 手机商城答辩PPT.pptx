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手机购物商城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8FF"/>
                </a:solidFill>
                <a:latin typeface="Microsoft YaHei"/>
              </a:defRPr>
            </a:pPr>
            <a:r>
              <a:t>Mobile Phone Shopping 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—— Java Web 课程设计答辩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931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答辩人：XXX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343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班  级：XXX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指导老师：XXX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166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日  期：2026年6月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45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项目开发目的与技术选型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45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用户角色与功能模块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43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E-R图与表结构设计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43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系统架构与包结构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系统实现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核心功能代码展示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运行效果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页面展示与功能演示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9377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测试分析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调试问题与解决方案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9377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6EFD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377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课程总结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知识点与改进建议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6EFD"/>
                </a:solidFill>
                <a:latin typeface="Microsoft YaHei"/>
              </a:defRPr>
            </a:pPr>
            <a:r>
              <a:t>项目开发目的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1. 将Java Web课程理论知识应用于实际开发</a:t>
            </a:r>
            <a:br/>
            <a:r>
              <a:t>    完成一个功能完整的电商系统</a:t>
            </a:r>
          </a:p>
          <a:p>
            <a:pPr algn="l"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2. 掌握 Servlet + JSP + JDBC 经典开发模式</a:t>
            </a:r>
            <a:br/>
            <a:r>
              <a:t>    深入理解 B/S 架构和 MVC 设计思想</a:t>
            </a:r>
          </a:p>
          <a:p>
            <a:pPr algn="l"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3. 实践数据库设计与 JDBC 编程</a:t>
            </a:r>
            <a:br/>
            <a:r>
              <a:t>    包括表设计、预编译SQL、事务管理</a:t>
            </a:r>
          </a:p>
          <a:p>
            <a:pPr algn="l"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4. 积累项目调试经验</a:t>
            </a:r>
            <a:br/>
            <a:r>
              <a:t>    独立排查依赖缺失、数据库不匹配等实际问题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6EFD"/>
                </a:solidFill>
                <a:latin typeface="Microsoft YaHei"/>
              </a:defRPr>
            </a:pPr>
            <a:r>
              <a:t>技术选型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01168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层面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技术方案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前端视图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JSP + JSTL + EL + Bootstrap 5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后端控制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Java Servlet (HttpServlet)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MySQL 8.0 + JDBC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构建工具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Maven (tomcat7-maven-plugin)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Tomcat 8.5 (内嵌运行)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字符编码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UTF-8 (EncodingFilter全局统一)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页面图标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Bootstrap Icons 1.11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需求分析 —— 用户角色与功能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303520" cy="6400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普通用户 (user)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注册与登录（表单验证 + Session保持）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浏览商品列表（15款主流品牌手机）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按品牌筛选（Apple / 华为 / 小米 / 三星等8个）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按分类筛选（旗舰 / 拍照 / 游戏 / 性价比）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关键字搜索（搜索商品名 / 品牌 / 描述）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查看商品详情（图片 / 描述 / 价格 / 库存）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购物车管理（添加 / 改数量 / 删除 / 合并）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提交订单（自动生成订单号 + 扣库存）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查看我的订单（订单状态跟踪）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303520" cy="4846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361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管理员 (admin)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拥有普通用户全部功能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商品管理：添加新商品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商品管理：编辑商品信息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商品管理：删除商品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订单管理：查看所有用户订单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订单管理：发货（待发货 -&gt; 已发货）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订单管理：完成订单（已发货 -&gt; 已完成）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订单管理：删除订单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&gt;&gt;&gt; 权限控制：非admin角色自动拦截跳转登录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需求分析 —— 功能模块结构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5760720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087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手机购物商城系统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194560"/>
            <a:ext cx="36576" cy="457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1737360" cy="2377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注册/登录/退出</a:t>
            </a:r>
            <a:br/>
            <a:r>
              <a:t>Session会话管理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029200"/>
            <a:ext cx="27432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2651760"/>
            <a:ext cx="1737360" cy="23774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商品模块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列表/搜索/筛选</a:t>
            </a:r>
            <a:br/>
            <a:r>
              <a:t>品牌/分类/详情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39" y="5029200"/>
            <a:ext cx="27432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2651760"/>
            <a:ext cx="1737360" cy="23774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购物车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添加/修改数量</a:t>
            </a:r>
            <a:br/>
            <a:r>
              <a:t>删除/合并去重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5029200"/>
            <a:ext cx="27432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2651760"/>
            <a:ext cx="1737360" cy="2377440"/>
          </a:xfrm>
          <a:prstGeom prst="rect">
            <a:avLst/>
          </a:prstGeom>
          <a:solidFill>
            <a:srgbClr val="E43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订单模块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创建/事务管理</a:t>
            </a:r>
            <a:br/>
            <a:r>
              <a:t>库存扣减/状态跟踪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5029200"/>
            <a:ext cx="27432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2651760"/>
            <a:ext cx="1737360" cy="23774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管理模块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商品CRUD</a:t>
            </a:r>
            <a:br/>
            <a:r>
              <a:t>订单发货/完成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59" y="5029200"/>
            <a:ext cx="27432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75520" y="2651760"/>
            <a:ext cx="1737360" cy="2377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基础模块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编码过滤器</a:t>
            </a:r>
            <a:br/>
            <a:r>
              <a:t>DBUtil工具类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44200" y="5029200"/>
            <a:ext cx="27432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0" y="5486400"/>
            <a:ext cx="6675120" cy="731520"/>
          </a:xfrm>
          <a:prstGeom prst="rect">
            <a:avLst/>
          </a:prstGeom>
          <a:solidFill>
            <a:srgbClr val="21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55778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MySQL 8.0 数据库 | JDBC | DBUtil 工具类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数据库设计 —— E-R 图与关系说明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286000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users</a:t>
            </a:r>
            <a:br/>
            <a:r>
              <a:t>用户表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828800"/>
            <a:ext cx="2286000" cy="10972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cart</a:t>
            </a:r>
            <a:br/>
            <a:r>
              <a:t>购物车表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286000" cy="10972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products</a:t>
            </a:r>
            <a:br/>
            <a:r>
              <a:t>商品表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2286000" cy="1097280"/>
          </a:xfrm>
          <a:prstGeom prst="rect">
            <a:avLst/>
          </a:prstGeom>
          <a:solidFill>
            <a:srgbClr val="E43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orders</a:t>
            </a:r>
            <a:br/>
            <a:r>
              <a:t>订单表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4572000"/>
            <a:ext cx="2286000" cy="10972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709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order_items</a:t>
            </a:r>
            <a:br/>
            <a:r>
              <a:t>订单明细表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1 : N  一个用户多个购物车项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N : 1  购物车关联商品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1 : N  一个用户多个订单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20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1 : N  一个订单多个明细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20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N : 1  明细关联商品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关系说明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3774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F3D"/>
                </a:solidFill>
                <a:latin typeface="Microsoft YaHei"/>
              </a:defRPr>
            </a:pPr>
            <a:r>
              <a:t>用户 -&gt; 购物车：1对多</a:t>
            </a:r>
          </a:p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 一个用户可添加多个商品到购物车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212F3D"/>
                </a:solidFill>
                <a:latin typeface="Microsoft YaHei"/>
              </a:defRPr>
            </a:pPr>
            <a:r>
              <a:t>用户 -&gt; 订单：1对多</a:t>
            </a:r>
          </a:p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 一个用户可创建多个订单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212F3D"/>
                </a:solidFill>
                <a:latin typeface="Microsoft YaHei"/>
              </a:defRPr>
            </a:pPr>
            <a:r>
              <a:t>订单 -&gt; 订单明细：1对多</a:t>
            </a:r>
          </a:p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 一个订单包含多个商品明细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212F3D"/>
                </a:solidFill>
                <a:latin typeface="Microsoft YaHei"/>
              </a:defRPr>
            </a:pPr>
            <a:r>
              <a:t>商品 -&gt; 购物车/订单明细：1对多</a:t>
            </a:r>
          </a:p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 同一商品出现在多个购物车和订单中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212F3D"/>
                </a:solidFill>
                <a:latin typeface="Microsoft YaHei"/>
              </a:defRPr>
            </a:pPr>
            <a:r>
              <a:t>订单明细存储商品快照</a:t>
            </a:r>
          </a:p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 (product_name, product_price)</a:t>
            </a:r>
          </a:p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 保证历史订单数据不受商品变更影响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数据库设计 —— 核心表结构（一）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users（用户表）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188720"/>
                <a:gridCol w="1554480"/>
              </a:tblGrid>
              <a:tr h="355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约束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PK AUTO_INCR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用户唯一标识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NOT NULL UNIQUE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用户名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密码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电子邮箱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联系电话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address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VARCHAR(200)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收货地址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DEFAULT 'user'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user=普通 admin=管理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create_time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DEFAULT NOW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注册时间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products（商品表）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82880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约束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PK AUTO_INCR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商品唯一标识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商品名称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商品描述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DECIMAL(10,2)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DEFAULT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库存数量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图片文件名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分类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create_time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DEFAULT 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添加时间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数据库设计 —— 核心表结构（二）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  <a:latin typeface="Microsoft YaHei"/>
              </a:defRPr>
            </a:pPr>
            <a:r>
              <a:t>cart（购物车表）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97280"/>
                <a:gridCol w="109728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自增主键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FK-&gt;users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用户ID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FK-&gt;products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商品ID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DEFAULT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create_time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添加时间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  <a:latin typeface="Microsoft YaHei"/>
              </a:defRPr>
            </a:pPr>
            <a:r>
              <a:t>orders（订单表）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0" y="1828800"/>
          <a:ext cx="3657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28016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自增主键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FK-&gt;users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下单用户ID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order_no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VARCHAR(50)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订单编号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total_amount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DECIMAL(10,2)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总金额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待发货/已发货/已完成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receiver_name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收货人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receiver_phone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收货电话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receiver_address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VARCHAR(200)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收货地址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create_time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下单时间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3210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  <a:latin typeface="Microsoft YaHei"/>
              </a:defRPr>
            </a:pPr>
            <a:r>
              <a:t>order_items 明细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321040" y="1828800"/>
          <a:ext cx="3474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自增主键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order_id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FK-&gt;orders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所属订单ID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 FK-&gt;products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product_name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商品名称快照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product_price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DECIMAL(10,2)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商品单价快照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DECIMAL(10,2)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小计金额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4754880"/>
            <a:ext cx="7772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F3D"/>
                </a:solidFill>
                <a:latin typeface="Microsoft YaHei"/>
              </a:defRPr>
            </a:pPr>
            <a:r>
              <a:t>订单编号生成规则: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格式: MO + yyyyMMddHHmmss + 用户ID(4位补零)      示例: MO202606091430250001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详细设计 —— 项目包结构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项目包结构 (src/main/java/com/shop/)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6EFD"/>
                </a:solidFill>
                <a:latin typeface="Consolas"/>
              </a:defRPr>
            </a:pPr>
            <a:r>
              <a:t>dao/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UserDao.java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ProductDao.java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CartDao.java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OrderDao.java</a:t>
            </a:r>
          </a:p>
          <a:p>
            <a:pPr algn="l"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0D6EFD"/>
                </a:solidFill>
                <a:latin typeface="Consolas"/>
              </a:defRPr>
            </a:pPr>
            <a:r>
              <a:t>model/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User.java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Product.java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CartItem.java  (含关联属性)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Order.java  (含List)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OrderItem.java</a:t>
            </a:r>
          </a:p>
          <a:p>
            <a:pPr algn="l"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0D6EFD"/>
                </a:solidFill>
                <a:latin typeface="Consolas"/>
              </a:defRPr>
            </a:pPr>
            <a:r>
              <a:t>servlet/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LoginServlet.java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RegisterServlet.java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LogoutServlet.java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ProductServlet.java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CartServlet.java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OrderServlet.java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AdminProductServlet.java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AdminOrderServlet.java</a:t>
            </a:r>
          </a:p>
          <a:p>
            <a:pPr algn="l"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0D6EFD"/>
                </a:solidFill>
                <a:latin typeface="Consolas"/>
              </a:defRPr>
            </a:pPr>
            <a:r>
              <a:t>filter/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EncodingFilter.java</a:t>
            </a:r>
          </a:p>
          <a:p>
            <a:pPr algn="l"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0D6EFD"/>
                </a:solidFill>
                <a:latin typeface="Consolas"/>
              </a:defRPr>
            </a:pPr>
            <a:r>
              <a:t>util/</a:t>
            </a:r>
          </a:p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DBUtil.java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554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F3D"/>
                </a:solidFill>
                <a:latin typeface="Microsoft YaHei"/>
              </a:defRPr>
            </a:pPr>
            <a:r>
              <a:t>项目统计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Java类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17个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JSP页面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10个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809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5张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Servlet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419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7个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58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4个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97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297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5个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736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1个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175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工具类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175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1个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614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初始商品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614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15款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053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品牌覆盖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053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6EFD"/>
                </a:solidFill>
                <a:latin typeface="Microsoft YaHei"/>
              </a:defRPr>
            </a:pPr>
            <a:r>
              <a:t>12个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详细设计 —— MVC 架构图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63040"/>
            <a:ext cx="9418320" cy="7772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508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浏览器 (Browser)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Bootstrap 5 + JSP + JSTL + EL 表达式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6EFD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377440"/>
            <a:ext cx="9418320" cy="7772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4231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Filter 过滤器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2316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EncodingFilter -- request.setCharacterEncoding("UTF-8")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6EFD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91840"/>
            <a:ext cx="9418320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337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Servlet 控制层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3756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LoginServlet / ProductServlet / CartServlet / OrderServlet / AdminServlet</a:t>
            </a:r>
            <a:br/>
            <a:r>
              <a:t>接收请求 -&gt; 调用DAO -&gt; 转发/重定向到JSP视图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6EFD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89120"/>
            <a:ext cx="9418320" cy="7772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434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DAO数据层  &lt;-&gt;  JSP视图层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3484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UserDao / ProductDao / CartDao / OrderDao      &lt;-&gt;      JSP页面(10个)</a:t>
            </a:r>
            <a:br/>
            <a:r>
              <a:t>JDBC连接数据库                                展示数据给用户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166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6EFD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577840"/>
            <a:ext cx="9418320" cy="777240"/>
          </a:xfrm>
          <a:prstGeom prst="rect">
            <a:avLst/>
          </a:prstGeom>
          <a:solidFill>
            <a:srgbClr val="21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62355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MySQL 8.0 数据库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623559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数据库: mobile | 5张表: users, products, cart, orders, order_items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系统实现 —— 用户模块（登录/注册/权限）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登录流程 (LoginServlet)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1. 用户提交用户名+密码 (POST)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2. 后端非空校验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3. UserDao.findByUsernameAndPassword()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4. 查询成功 -&gt; User存入Session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5. 重定向到首页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6. 查询失败 -&gt; 返回错误提示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注册验证 (RegisterServlet)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1. 用户名非空检查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2. 密码长度 &gt;= 6 位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3. 两次密码一致性验证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4. 用户名唯一性检查（查重）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5. 全部通过 -&gt; 插入users表</a:t>
            </a:r>
          </a:p>
          <a:p>
            <a:pPr algn="l">
              <a:spcBef>
                <a:spcPts val="500"/>
              </a:spcBef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6. 注册成功 -&gt; 自动登录跳转首页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权限控制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F3D"/>
                </a:solidFill>
                <a:latin typeface="Microsoft YaHei"/>
              </a:defRPr>
            </a:pPr>
            <a:r>
              <a:t>header.jsp 动态渲染：</a:t>
            </a: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session.user == null</a:t>
            </a: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=&gt; 显示 [登录] [注册]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session.user != null</a:t>
            </a: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=&gt; 显示 [购物车] [订单] [用户名]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user.role == admin</a:t>
            </a: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=&gt; 额外显示 [管理] 菜单</a:t>
            </a:r>
          </a:p>
          <a:p>
            <a:pPr algn="l">
              <a:defRPr sz="400" b="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defRPr sz="1200" b="0">
                <a:solidFill>
                  <a:srgbClr val="212F3D"/>
                </a:solidFill>
                <a:latin typeface="Microsoft YaHei"/>
              </a:defRPr>
            </a:pPr>
            <a:r>
              <a:t>后台Servlet isAdmin()检查：</a:t>
            </a:r>
          </a:p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  非admin =&gt; sendRedirect(login)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32120"/>
            <a:ext cx="11064240" cy="1005840"/>
          </a:xfrm>
          <a:prstGeom prst="rect">
            <a:avLst/>
          </a:prstGeom>
          <a:solidFill>
            <a:srgbClr val="21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DDAA"/>
                </a:solidFill>
                <a:latin typeface="Consolas"/>
              </a:defRPr>
            </a:pPr>
            <a:r>
              <a:t>User user = userDao.findByUsernameAndPassword(username.trim(), password.trim());</a:t>
            </a:r>
            <a:br/>
            <a:r>
              <a:t>if (user != null) {</a:t>
            </a:r>
            <a:br/>
            <a:r>
              <a:t>    req.getSession().setAttribute("user", user);     // 登录成功，保存Session</a:t>
            </a:r>
            <a:br/>
            <a:r>
              <a:t>    resp.sendRedirect(req.getContextPath() + "/jsp/index.jsp");</a:t>
            </a:r>
            <a:br/>
            <a:r>
              <a:t>} else {</a:t>
            </a:r>
            <a:br/>
            <a:r>
              <a:t>    req.setAttribute("error", "用户名或密码错误！");   // 登录失败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系统实现 —— 商品模块（列表/搜索/筛选）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商品展示 (ProductServlet)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66928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6EFD"/>
                </a:solidFill>
                <a:latin typeface="Consolas"/>
              </a:defRPr>
            </a:pPr>
            <a:r>
              <a:t>listAll()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查询所有商品,按create_time DESC排序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566928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8754"/>
                </a:solidFill>
                <a:latin typeface="Consolas"/>
              </a:defRPr>
            </a:pPr>
            <a:r>
              <a:t>showDetail()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根据id查询单个商品完整信息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566928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546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D7E14"/>
                </a:solidFill>
                <a:latin typeface="Consolas"/>
              </a:defRPr>
            </a:pPr>
            <a:r>
              <a:t>search()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15467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关键字LIKE搜索name/brand/description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566928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2C1"/>
                </a:solidFill>
                <a:latin typeface="Consolas"/>
              </a:defRPr>
            </a:pPr>
            <a:r>
              <a:t>listByCategory()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按分类筛选(旗舰/拍照/游戏/性价比)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566928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393C"/>
                </a:solidFill>
                <a:latin typeface="Consolas"/>
              </a:defRPr>
            </a:pPr>
            <a:r>
              <a:t>listByBrand()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按品牌筛选(Apple/华为/小米/三星等8个)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7E14"/>
                </a:solidFill>
                <a:latin typeface="Microsoft YaHei"/>
              </a:defRPr>
            </a:pPr>
            <a:r>
              <a:t>首页推荐 (index.jsp)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// JSP Scriptlet 直接调用 DAO</a:t>
            </a:r>
            <a:br/>
            <a:r>
              <a:t>ProductDao productDao = new ProductDao();</a:t>
            </a:r>
            <a:br/>
            <a:r>
              <a:t>List&lt;Product&gt; products = productDao.findAll();</a:t>
            </a:r>
            <a:br/>
            <a:r>
              <a:t>if (products.size() &gt; 8)</a:t>
            </a:r>
            <a:br/>
            <a:r>
              <a:t>    products = products.subList(0, 8);</a:t>
            </a:r>
            <a:br/>
            <a:br/>
            <a:r>
              <a:t>// JSTL 遍历展示</a:t>
            </a:r>
            <a:br/>
            <a:r>
              <a:t>&lt;c:forEach items="${homeProducts}" var="p"&gt;</a:t>
            </a:r>
            <a:br/>
            <a:r>
              <a:t>    &lt;div class="card"&gt;</a:t>
            </a:r>
            <a:br/>
            <a:r>
              <a:t>        &lt;img src="${p.image}" alt="${p.name}"&gt;</a:t>
            </a:r>
            <a:br/>
            <a:r>
              <a:t>        &lt;h6&gt;${p.name}&lt;/h6&gt;</a:t>
            </a:r>
            <a:br/>
            <a:r>
              <a:t>        &lt;span class="price"&gt;￥${p.price}&lt;/span&gt;</a:t>
            </a:r>
            <a:br/>
            <a:r>
              <a:t>    &lt;/div&gt;</a:t>
            </a:r>
            <a:br/>
            <a:r>
              <a:t>&lt;/c:forEach&gt;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solidFill>
            <a:srgbClr val="21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5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DDAA"/>
                </a:solidFill>
                <a:latin typeface="Consolas"/>
              </a:defRPr>
            </a:pPr>
            <a:r>
              <a:t>// 关键字搜索 —— 三个字段模糊匹配</a:t>
            </a:r>
            <a:br/>
            <a:r>
              <a:t>String sql = "SELECT * FROM products WHERE name LIKE ? OR brand LIKE ? OR description LIKE ?";</a:t>
            </a:r>
            <a:br/>
            <a:r>
              <a:t>ps.setString(1, "%" + keyword + "%"); ps.setString(2, "%" + keyword + "%"); ps.setString(3, "%" + keyword + "%");</a:t>
            </a:r>
            <a:br/>
            <a:br/>
            <a:r>
              <a:t>// 按品牌筛选:    "SELECT * FROM products WHERE brand = ? ORDER BY create_time DESC"</a:t>
            </a:r>
            <a:br/>
            <a:r>
              <a:t>// 按分类筛选:    "SELECT * FROM products WHERE category = ? ORDER BY create_time DESC"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系统实现 —— 购物车与订单模块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  <a:latin typeface="Microsoft YaHei"/>
              </a:defRPr>
            </a:pPr>
            <a:r>
              <a:t>购物车核心逻辑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重复商品自动合并（CartServlet.addToCart）：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303520" cy="1828800"/>
          </a:xfrm>
          <a:prstGeom prst="rect">
            <a:avLst/>
          </a:prstGeom>
          <a:solidFill>
            <a:srgbClr val="21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377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DDAA"/>
                </a:solidFill>
                <a:latin typeface="Consolas"/>
              </a:defRPr>
            </a:pPr>
            <a:r>
              <a:t>// 先检查购物车中是否已存在该商品</a:t>
            </a:r>
            <a:br/>
            <a:r>
              <a:t>CartItem existItem = cartDao.findByUserAndProduct(userId, productId);</a:t>
            </a:r>
            <a:br/>
            <a:r>
              <a:t>if (existItem != null) {</a:t>
            </a:r>
            <a:br/>
            <a:r>
              <a:t>    // 已存在 -&gt; 累加数量</a:t>
            </a:r>
            <a:br/>
            <a:r>
              <a:t>    cartDao.updateQuantity(existItem.getId(),</a:t>
            </a:r>
            <a:br/>
            <a:r>
              <a:t>              existItem.getQuantity() + quantity);</a:t>
            </a:r>
            <a:br/>
            <a:r>
              <a:t>} else {</a:t>
            </a:r>
            <a:br/>
            <a:r>
              <a:t>    // 不存在 -&gt; 新增记录</a:t>
            </a:r>
            <a:br/>
            <a:r>
              <a:t>    cartDao.add(newItem);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购物车列表：JOIN products 表获取商品名称/价格/图片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4393C"/>
                </a:solidFill>
                <a:latin typeface="Microsoft YaHei"/>
              </a:defRPr>
            </a:pPr>
            <a:r>
              <a:t>订单创建流程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获取用户购物车 -&gt; 计算总金额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生成唯一订单编号 MO+时间戳+用户ID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开启事务 setAutoCommit(false)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插入 orders 表 -&gt; 获取自增 order_id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批量插入 order_items 表 (addBatch)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扣减库存 stock - quantity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7. 清空用户购物车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8. commit() 提交 | 异常 rollback() 回滚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029200"/>
            <a:ext cx="5303520" cy="1371600"/>
          </a:xfrm>
          <a:prstGeom prst="rect">
            <a:avLst/>
          </a:prstGeom>
          <a:solidFill>
            <a:srgbClr val="21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07492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DDAA"/>
                </a:solidFill>
                <a:latin typeface="Consolas"/>
              </a:defRPr>
            </a:pPr>
            <a:r>
              <a:t>conn.setAutoCommit(false);       // 开启事务</a:t>
            </a:r>
            <a:br/>
            <a:r>
              <a:t>// 1. 插入orders表 (获取自增ID)</a:t>
            </a:r>
            <a:br/>
            <a:r>
              <a:t>// 2. 批量插入order_items (executeBatch)</a:t>
            </a:r>
            <a:br/>
            <a:r>
              <a:t>// 3. 扣减库存 (updateStock)</a:t>
            </a:r>
            <a:br/>
            <a:r>
              <a:t>// 4. 清空购物车 (clearByUserId)</a:t>
            </a:r>
            <a:br/>
            <a:r>
              <a:t>conn.commit();                  // 提交</a:t>
            </a:r>
            <a:br/>
            <a:r>
              <a:t>// catch块: conn.rollback();    // 回滚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系统实现 —— 拓展功能与代码亮点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73152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89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编码过滤器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EncodingFilter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4173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全局统一设置 UTF-8 编码，解决中文乱码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onsolas"/>
              </a:defRPr>
            </a:pPr>
            <a:r>
              <a:t>req.setCharacterEncoding("UTF-8");</a:t>
            </a:r>
            <a:br/>
            <a:r>
              <a:t>resp.setContentType("text/html;charset=UTF-8");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11064240" cy="777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40280"/>
            <a:ext cx="73152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响应式布局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Bootstrap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2860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栅格系统 + 导航栏 + 卡片组件，桌面/移动端均可浏览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onsolas"/>
              </a:defRPr>
            </a:pPr>
            <a:r>
              <a:t>&lt;link href="cdn.bootcdn.net/...bootstrap.min.css"&gt;</a:t>
            </a:r>
            <a:br/>
            <a:r>
              <a:t>&lt;div class="col-6 col-md-3"&gt;...&lt;/div&gt;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73152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27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数据库连接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DBUtil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1546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封装 getConnection/close 方法，static块加载驱动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onsolas"/>
              </a:defRPr>
            </a:pPr>
            <a:r>
              <a:t>Class.forName("com.mysql.cj.jdbc.Driver");</a:t>
            </a:r>
            <a:br/>
            <a:r>
              <a:t>DriverManager.getConnection(URL, USER, PWD);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77640"/>
            <a:ext cx="11064240" cy="777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977640"/>
            <a:ext cx="73152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95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SQL防注入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PreparedStatement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0233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所有SQL使用参数占位符 ?，杜绝SQL注入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23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onsolas"/>
              </a:defRPr>
            </a:pPr>
            <a:r>
              <a:t>ps = conn.prepareStatement("SELECT * FROM users</a:t>
            </a:r>
            <a:br/>
            <a:r>
              <a:t>  WHERE username=? AND password=?");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846320"/>
            <a:ext cx="73152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64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批量插入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addBatch()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892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订单明细使用批量处理减少数据库交互次数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92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onsolas"/>
              </a:defRPr>
            </a:pPr>
            <a:r>
              <a:t>itemPs.setInt(1, orderId); ...</a:t>
            </a:r>
            <a:br/>
            <a:r>
              <a:t>itemPs.addBatch();</a:t>
            </a:r>
            <a:br/>
            <a:r>
              <a:t>itemPs.executeBatch();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715000"/>
            <a:ext cx="73152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7332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F3D"/>
                </a:solidFill>
                <a:latin typeface="Microsoft YaHei"/>
              </a:defRPr>
            </a:pPr>
            <a:r>
              <a:t>图片容错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035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onerror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7607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图片加载失败自动显示默认占位图片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7607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onsolas"/>
              </a:defRPr>
            </a:pPr>
            <a:r>
              <a:t>&lt;img src="..." onerror="this.src=default.jpg"&gt;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项目运行效果 —— 主要页面一览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0352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898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首页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389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/jsp/index.jsp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3898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轮播图 + 热销推荐(8个) + 品牌/分类入口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898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登录页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389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/user/login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3898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用户名密码登录 + 错误提示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828800"/>
            <a:ext cx="530352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847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注册页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/user/register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47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6项表单 + 前端验证 + 后端查重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828800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47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商品列表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/product?action=list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847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侧边栏筛选 + 三列卡片网格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286000"/>
            <a:ext cx="530352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304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商品搜索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2304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/product?action=search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3042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关键字搜索name/brand/description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286000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04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商品详情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2304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/product?action=detail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3042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完整商品信息 + 品牌/价格/库存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743200"/>
            <a:ext cx="530352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7614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购物车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2761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/cart?action=list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761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商品表格 + 数量调整 + 总金额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743200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7614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下单确认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2761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/order?action=create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761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收货信息填写 + 订单预览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200400"/>
            <a:ext cx="530352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2186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我的订单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/order?action=list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18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订单列表 + 状态跟踪(待发货/已发货/已完成)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200400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2186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商品管理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/admin/product?action=list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218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后台商品CRUD操作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657600"/>
            <a:ext cx="530352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67588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F3D"/>
                </a:solidFill>
                <a:latin typeface="Microsoft YaHei"/>
              </a:defRPr>
            </a:pPr>
            <a:r>
              <a:t>订单管理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6EFD"/>
                </a:solidFill>
                <a:latin typeface="Consolas"/>
              </a:defRPr>
            </a:pPr>
            <a:r>
              <a:t>/admin/order?action=list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36758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全部订单 + 发货/完成/删除操作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389120"/>
            <a:ext cx="11064240" cy="1920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48463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[ 请在此处插入系统运行截图 ]</a:t>
            </a:r>
            <a:br/>
            <a:r>
              <a:t>（首页 | 商品列表 | 购物车 | 订单管理 | 后台管理）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测试分析 —— 调试问题与解决方案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4393C"/>
                </a:solidFill>
                <a:latin typeface="Microsoft YaHei"/>
              </a:defRPr>
            </a:pPr>
            <a:r>
              <a:t>问题1: MySQL驱动JAR包缺失 -&gt; ClassNotFoundException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530352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F3D"/>
                </a:solidFill>
                <a:latin typeface="Microsoft YaHei"/>
              </a:defRPr>
            </a:pPr>
            <a:r>
              <a:t>错误现象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- 访问任何页面都报 HTTP 500 错误</a:t>
            </a:r>
            <a:br/>
            <a:r>
              <a:t>- 控制台日志: RuntimeException: MySQL驱动加载失败</a:t>
            </a:r>
            <a:br/>
            <a:r>
              <a:t>- 根因: ClassNotFoundException: com.mysql.cj.jdbc.Driver</a:t>
            </a:r>
            <a:br/>
            <a:r>
              <a:t>- DBUtil的static块中 Class.forName() 找不到驱动类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530352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F3D"/>
                </a:solidFill>
                <a:latin typeface="Microsoft YaHei"/>
              </a:defRPr>
            </a:pPr>
            <a:r>
              <a:t>原因分析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- pom.xml中使用了废弃的Maven坐标:</a:t>
            </a:r>
            <a:br/>
            <a:r>
              <a:t>    mysql:mysql-connector-java:8.0.33</a:t>
            </a:r>
            <a:br/>
            <a:r>
              <a:t>- MySQL官方在8.0.31版本后改了Artifact名:</a:t>
            </a:r>
            <a:br/>
            <a:r>
              <a:t>    旧: mysql:mysql-connector-java</a:t>
            </a:r>
            <a:br/>
            <a:r>
              <a:t>    新: com.mysql:mysql-connector-j</a:t>
            </a:r>
            <a:br/>
            <a:r>
              <a:t>- 旧坐标8.0.33在Maven Central返回404</a:t>
            </a:r>
            <a:br/>
            <a:r>
              <a:t>- JAR包从未被下载，.m2目录仅存.pom文件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解决方法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使用curl验证确认旧坐标返回404，新坐标返回200</a:t>
            </a:r>
            <a:br/>
            <a:r>
              <a:t>2. 修改 pom.xml: &lt;groupId&gt;com.mysql&lt;/groupId&gt; &lt;artifactId&gt;mysql-connector-j&lt;/artifactId&gt;</a:t>
            </a:r>
            <a:br/>
            <a:r>
              <a:t>3. 在IntelliJ IDEA中刷新Maven依赖（Reload All Maven Projects）</a:t>
            </a:r>
            <a:br/>
            <a:r>
              <a:t>4. 确认 ~/.m2/repository/com/mysql/mysql-connector-j/8.0.33/ 下有.jar文件（2.4MB）</a:t>
            </a:r>
            <a:br/>
            <a:r>
              <a:t>5. 重新编译项目并重启Tomcat服务器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测试分析 —— 更多调试问题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4393C"/>
                </a:solidFill>
                <a:latin typeface="Microsoft YaHei"/>
              </a:defRPr>
            </a:pPr>
            <a:r>
              <a:t>问题2: 数据库表结构与代码不匹配 -&gt; Column not 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30352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F3D"/>
                </a:solidFill>
                <a:latin typeface="Microsoft YaHei"/>
              </a:defRPr>
            </a:pPr>
            <a:r>
              <a:t>错误现象 &amp; 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- 登录报错: Column email not found</a:t>
            </a:r>
            <a:br/>
            <a:r>
              <a:t>- 商品列表报错: Column brand not found</a:t>
            </a:r>
            <a:br/>
            <a:r>
              <a:t>- mobile库曾被图书管理系统使用</a:t>
            </a:r>
            <a:br/>
            <a:r>
              <a:t>- users表字段: real_name 而非 email/address</a:t>
            </a:r>
            <a:br/>
            <a:r>
              <a:t>- products表字段: category_id 而非 brand/category</a:t>
            </a:r>
            <a:br/>
            <a:r>
              <a:t>- role字段类型: ENUM(reader, admin)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920240"/>
            <a:ext cx="5303520" cy="2286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解决步骤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DESCRIBE users; DESCRIBE products;</a:t>
            </a:r>
            <a:br/>
            <a:r>
              <a:t>   确认实际表结构</a:t>
            </a:r>
            <a:br/>
            <a:r>
              <a:t>2. SET FOREIGN_KEY_CHECKS = 0;</a:t>
            </a:r>
            <a:br/>
            <a:r>
              <a:t>   禁用外键约束检查</a:t>
            </a:r>
            <a:br/>
            <a:r>
              <a:t>3. 删除所有旧表（含图书系统的表）</a:t>
            </a:r>
            <a:br/>
            <a:r>
              <a:t>4. 执行 database/init.sql 重建所有表</a:t>
            </a:r>
            <a:br/>
            <a:r>
              <a:t>5. 验证: SELECT COUNT(*) FROM products;</a:t>
            </a:r>
            <a:br/>
            <a:r>
              <a:t>   结果应为15条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7E14"/>
                </a:solidFill>
                <a:latin typeface="Microsoft YaHei"/>
              </a:defRPr>
            </a:pPr>
            <a:r>
              <a:t>问题3: 购物车重复添加同一商品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现象: 多次点击加入购物车出现多条相同记录</a:t>
            </a:r>
            <a:br/>
            <a:r>
              <a:t>解决: addToCart方法中先调用findByUserAndProduct</a:t>
            </a:r>
            <a:br/>
            <a:r>
              <a:t>      检查，已存在则updateQuantity累加数量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7E14"/>
                </a:solidFill>
                <a:latin typeface="Microsoft YaHei"/>
              </a:defRPr>
            </a:pPr>
            <a:r>
              <a:t>问题4: 订单创建时数据不一致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29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现象: 偶尔出现订单已创建但库存未扣减</a:t>
            </a:r>
            <a:br/>
            <a:r>
              <a:t>解决: 使用JDBC事务管理（setAutoCommit(false)</a:t>
            </a:r>
            <a:br/>
            <a:r>
              <a:t>      -&gt; commit/rollback）保证4步原子操作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课程实训总结 —— 知识点与改进建议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6EFD"/>
                </a:solidFill>
                <a:latin typeface="Microsoft YaHei"/>
              </a:defRPr>
            </a:pPr>
            <a:r>
              <a:t>项目中用到的核心知识点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00400"/>
                <a:gridCol w="3200400"/>
              </a:tblGrid>
              <a:tr h="406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分类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知识点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具体应用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Java基础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面向对象、封装、集合List/Stream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5个实体类、购物车总金额计算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Java Web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Servlet生命周期、Request/Response/Session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7个Servlet、登录状态保持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MySQL DDL/DML、JDBC、PreparedStatement、事务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5张表CRUD、订单事务管理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JSP脚本/表达式、JSTL标签、EL表达式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c:forEach遍历商品、条件渲染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前端框架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Bootstrap 5 栅格/组件、Bootstrap Icons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响应式布局、轮播/卡片/导航栏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Maven依赖管理、pom.xml、tomcat7插件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JAR管理、一键启动Tomcat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设计模式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MVC分层架构、DAO模式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Model-DAO-Servlet-JSP分层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编码规范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UTF-8编码、Filter过滤器、SQL防注入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EncodingFilter、PreparedStatement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7E14"/>
                </a:solidFill>
                <a:latin typeface="Microsoft YaHei"/>
              </a:defRPr>
            </a:pPr>
            <a:r>
              <a:t>有待改进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密码加密存储 (BCrypt)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数据库连接池 (Druid)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前后端分离 (Vue.js)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文件上传功能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分页功能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日志系统 (Log4j)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7. 版本控制 (Git)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收获: 深入理解了Servlet/JSP工作原理和MVC架构 | 掌握了JDBC数据库编程和事务处理 | 提升了从错误日志定位问题的Debug能力 | 了解了完整Web项目从设计到实现的开发流程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2743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F3D"/>
                </a:solidFill>
                <a:latin typeface="Microsoft YaHei"/>
              </a:defRPr>
            </a:pPr>
            <a:r>
              <a:t>参考文献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960120"/>
            <a:ext cx="228600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629400"/>
            <a:ext cx="120517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[1] 明日科技. Java Web从入门到精通（第4版）[M]. 北京: 清华大学出版社, 2021.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[2] 李刚. 轻量级Java EE企业应用实战（第5版）[M]. 北京: 电子工业出版社, 2020.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[3] Nicholas S. Williams. Professional Java for Web Applications[M]. Wrox Press, 2014.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[4] 韩路彪. 看透Spring MVC：源代码分析与实践[M]. 北京: 机械工业出版社, 2018.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[5] 黑马程序员. Java EE企业级应用开发教程[M]. 北京: 人民邮电出版社, 2019.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[6] 崔增晖. MySQL数据库应用从入门到精通（第3版）[M]. 北京: 中国铁道出版社, 2020.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[7] Bootstrap官方文档[EB/OL]. https://getbootstrap.com/docs/5.3/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39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imSun"/>
              </a:defRPr>
            </a:pPr>
            <a:r>
              <a:t>[8] Oracle. Java Servlet Specification 4.0[EB/OL]. https://javaee.github.io/servlet-spec/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感谢各位老师的指导！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8FF"/>
                </a:solidFill>
                <a:latin typeface="Microsoft YaHei"/>
              </a:defRPr>
            </a:pPr>
            <a:r>
              <a:t>Thank You for Listening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Microsoft YaHei"/>
              </a:defRPr>
            </a:pPr>
            <a:r>
              <a:t>请各位老师批评指正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6EFD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手机商城 · Java Web课程设计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